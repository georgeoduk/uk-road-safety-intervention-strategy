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563"/>
    <a:srgbClr val="1F2A44"/>
    <a:srgbClr val="EEF5FC"/>
    <a:srgbClr val="E5E7EB"/>
    <a:srgbClr val="F7F8FA"/>
    <a:srgbClr val="2F5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26" y="-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E0A64-EBD0-45CD-B546-6A7DC9995285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9941D-0EF7-4382-BC5E-49A6C40466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58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4C29-3F0B-CD50-130F-0674FD3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71B82-73A8-86C3-3FCD-9FC5041C0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B2968-0921-8C70-57D8-0DB9C5A0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4E778-BF75-08F5-1355-BE0F51D7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A534D-CFCD-684B-6576-4A8864D2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11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78F4-FE90-4B9E-B185-02E5D991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878A2-2429-1226-4068-BA7F0CEE9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A5173-5D41-8787-9B22-E07D42AF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05D8-69B5-496E-1D99-E747E825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475EC-D34A-8995-2D95-23FD307B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80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E1CA-62B0-09DA-E9EA-E1ABA13A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340F0-42C1-6D4C-99BD-E4F067292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7D4D-90BC-F4E7-01C7-87C59FF9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01E9-91C1-FAF8-50C4-628045BE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03CFE-AD8C-0F0D-E506-AE3B599F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19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8C58-76BA-91E7-EFAC-817BD094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541F-0D4D-BDF0-C66F-2606438D5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01872-1F3E-7215-46C4-8151382EB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CCE86-B162-8FC8-6595-68632163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30AB2-B155-DB2B-3102-2D09D1B3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53794-1756-A467-F13E-1E4D8DCC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ECAB-B834-9B2E-C55A-D7C97ECD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26908-7C03-D9E2-AF9D-00E78A24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0F831-594C-2775-D187-1F0F48B92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A03D5-97E5-CD14-CC7E-A63938318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760C8-5B42-70EA-2F54-05A0DCD22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EF3552-5608-0BDB-D866-6DBC73E1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7C3C1-E61E-CE3B-51F4-91CB6B57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35B83-1E9A-E269-A7D4-1B3E0216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0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1DB7-FD99-488B-435B-0F671BB4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6583F-822B-0893-FA7E-CB2DD1AF5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15585-83FD-D348-7E50-EFB4B485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C16C4-D471-8354-E5E6-F42B6AB2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0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DCCA0-2341-373C-1E6D-8D866A7C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52D7B7-282B-87A8-FF88-3562B3F6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ECE75-F267-AA44-1B71-60251F1F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38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3DC8-8BC9-543B-C1B1-DBCD1D72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4C78-B2F8-9BD2-1712-45D01C920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0978C-6043-34AF-99C7-34443141C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2E33A-4708-9335-95FE-0A8A430D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A037A-75A1-D6B3-B1B5-F2E8EBB7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FEF85-BF9A-5BE1-E921-CE7C76C9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06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3BBD-0881-5CA3-BAED-F60BC07F3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DC742-4107-38A4-55BF-F68C99F71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DE267-9A12-C051-ADD7-C4513AF2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FF4C9-0FA3-EBDE-58B1-0D89A7968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461F-936C-6535-D519-C8CF7D3E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247B7-01D1-972B-25E6-D6D84E74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51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F845-1E7F-3539-1B75-7D3BBFDC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AC82F-B57F-0E37-184D-4683F182A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EC2B-07F3-76F6-EF8C-3730F25B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0C5E7-0DC5-D742-02EF-A25846B8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3C40-8F73-1762-AE2A-0387B303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59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65D869-E1C5-A1F3-0987-13BA46D06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78F52-0CA2-7625-F6AD-A140CBE63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5A399-A268-4642-FA0E-1C4EB5AE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DEDB-1B90-C998-6CD8-1B516882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4060D-3C6E-78CB-35A4-7DBD9F38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78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5628C-D3BF-B3C6-B867-4ECF196E9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74B7-3C04-60A9-771F-9C94E7D7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AE637-509C-123F-2225-50195BBB4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E0A36-30B0-4E2E-9605-661440556BA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8C78-7914-412E-3012-6332CC3A9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BED7E-712F-8491-717C-0573AD518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28221-3646-4614-865B-857927171C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33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96F4E3-FAAB-2F8D-D5FF-50DDFE617957}"/>
              </a:ext>
            </a:extLst>
          </p:cNvPr>
          <p:cNvSpPr txBox="1"/>
          <p:nvPr/>
        </p:nvSpPr>
        <p:spPr>
          <a:xfrm>
            <a:off x="410400" y="273600"/>
            <a:ext cx="11340000" cy="684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2200" b="1" dirty="0">
                <a:solidFill>
                  <a:srgbClr val="1F2A44"/>
                </a:solidFill>
                <a:latin typeface="+mj-lt"/>
              </a:rPr>
              <a:t>Refocus road-safety investment on urban pedestrian hotspots, higher-speed severity corridors, and high-rate authorities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01C9E-3693-C5E9-52BF-A137C7F353B6}"/>
              </a:ext>
            </a:extLst>
          </p:cNvPr>
          <p:cNvSpPr txBox="1"/>
          <p:nvPr/>
        </p:nvSpPr>
        <p:spPr>
          <a:xfrm>
            <a:off x="410400" y="917999"/>
            <a:ext cx="10972800" cy="468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50" dirty="0">
                <a:solidFill>
                  <a:srgbClr val="4B5563"/>
                </a:solidFill>
              </a:rPr>
              <a:t>Analysis of the last five years of UK road casualty data shows that severe harm is concentrated rather than evenly distributed, making targeted pilots more effective than broad, undifferentiated intervention.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5A9535-34D2-ADB8-1218-5C7659CE07D2}"/>
              </a:ext>
            </a:extLst>
          </p:cNvPr>
          <p:cNvCxnSpPr/>
          <p:nvPr/>
        </p:nvCxnSpPr>
        <p:spPr>
          <a:xfrm>
            <a:off x="410400" y="1350000"/>
            <a:ext cx="113400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BA6B971-B8DA-64BA-5B78-8BFF3AA329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00" y="1627200"/>
            <a:ext cx="6904800" cy="43560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FD87D2-C1AC-CD5C-B2BD-D05064CE2D4F}"/>
              </a:ext>
            </a:extLst>
          </p:cNvPr>
          <p:cNvSpPr txBox="1"/>
          <p:nvPr/>
        </p:nvSpPr>
        <p:spPr>
          <a:xfrm>
            <a:off x="4802400" y="1454400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900" b="1" dirty="0">
                <a:solidFill>
                  <a:srgbClr val="2F5F98"/>
                </a:solidFill>
              </a:rPr>
              <a:t>PRIORITY SEGMENT 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A3B326-F339-70FF-E26E-759609780E11}"/>
              </a:ext>
            </a:extLst>
          </p:cNvPr>
          <p:cNvSpPr/>
          <p:nvPr/>
        </p:nvSpPr>
        <p:spPr>
          <a:xfrm>
            <a:off x="410400" y="1627200"/>
            <a:ext cx="3978000" cy="97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100" b="1" dirty="0">
                <a:solidFill>
                  <a:srgbClr val="1F2A44"/>
                </a:solidFill>
              </a:rPr>
              <a:t>1. Prioritise urban pedestrian hotspots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950" dirty="0">
                <a:solidFill>
                  <a:srgbClr val="4B5563"/>
                </a:solidFill>
              </a:rPr>
              <a:t>Concentrate early interventions where pedestrian ‘Killed or Seriously Injured’ (KSI) volume and implementation relevance are highest. </a:t>
            </a:r>
            <a:br>
              <a:rPr lang="en-GB" sz="950" dirty="0"/>
            </a:br>
            <a:endParaRPr lang="en-GB" sz="9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D33676-2670-13F5-177B-B46C46426C9B}"/>
              </a:ext>
            </a:extLst>
          </p:cNvPr>
          <p:cNvSpPr/>
          <p:nvPr/>
        </p:nvSpPr>
        <p:spPr>
          <a:xfrm>
            <a:off x="410400" y="2761200"/>
            <a:ext cx="3978000" cy="97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100" b="1" dirty="0">
                <a:solidFill>
                  <a:srgbClr val="1F2A44"/>
                </a:solidFill>
              </a:rPr>
              <a:t>2. Target higher-speed severity corridors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950" dirty="0">
                <a:solidFill>
                  <a:srgbClr val="4B5563"/>
                </a:solidFill>
              </a:rPr>
              <a:t>Use speed, road-context and timing evidence to focus enforcement and engineering where harm severity is greatest.</a:t>
            </a:r>
            <a:br>
              <a:rPr lang="en-GB" sz="950" dirty="0"/>
            </a:br>
            <a:endParaRPr lang="en-GB" sz="9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38D612-2AE6-CB8B-2F6F-46148922CB72}"/>
              </a:ext>
            </a:extLst>
          </p:cNvPr>
          <p:cNvSpPr/>
          <p:nvPr/>
        </p:nvSpPr>
        <p:spPr>
          <a:xfrm>
            <a:off x="410400" y="3895200"/>
            <a:ext cx="3978000" cy="97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100" b="1" dirty="0">
                <a:solidFill>
                  <a:srgbClr val="1F2A44"/>
                </a:solidFill>
              </a:rPr>
              <a:t>3. Select pilots using both count and rate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950" dirty="0">
                <a:solidFill>
                  <a:srgbClr val="4B5563"/>
                </a:solidFill>
              </a:rPr>
              <a:t>Choose authorities that remain high-risk on both KSI count and KSI per 100k rather than relying on absolute volume alone.</a:t>
            </a:r>
            <a:br>
              <a:rPr lang="en-GB" sz="950" dirty="0"/>
            </a:br>
            <a:endParaRPr lang="en-GB" sz="9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076429-8C27-DC2E-C36B-AEF081724EF2}"/>
              </a:ext>
            </a:extLst>
          </p:cNvPr>
          <p:cNvSpPr txBox="1"/>
          <p:nvPr/>
        </p:nvSpPr>
        <p:spPr>
          <a:xfrm>
            <a:off x="410400" y="5029200"/>
            <a:ext cx="41148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solidFill>
                  <a:srgbClr val="1F2A44"/>
                </a:solidFill>
              </a:rPr>
              <a:t>Implication: shift investment from broad, undifferentiated activity to focused, segment-led pilot interventions.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D5556A7-B30A-FC4F-66EF-A77961E8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98000"/>
            <a:ext cx="9601200" cy="180000"/>
          </a:xfrm>
        </p:spPr>
        <p:txBody>
          <a:bodyPr/>
          <a:lstStyle/>
          <a:p>
            <a:r>
              <a:rPr lang="en-US" sz="750" dirty="0"/>
              <a:t>Source: </a:t>
            </a:r>
            <a:r>
              <a:rPr lang="en-US" sz="750" dirty="0" err="1"/>
              <a:t>DfT</a:t>
            </a:r>
            <a:r>
              <a:rPr lang="en-US" sz="750" dirty="0"/>
              <a:t> Road Safety Open Data; ONS population estimates; analysis in SQL Server, </a:t>
            </a:r>
            <a:r>
              <a:rPr lang="en-US" sz="750" dirty="0" err="1"/>
              <a:t>PowerBI</a:t>
            </a:r>
            <a:r>
              <a:rPr lang="en-US" sz="750" dirty="0"/>
              <a:t> and Excel.</a:t>
            </a:r>
            <a:endParaRPr lang="en-GB" sz="75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BBD938-1E17-F0AB-B808-C3226E0F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200" y="6480000"/>
            <a:ext cx="273600" cy="180000"/>
          </a:xfrm>
        </p:spPr>
        <p:txBody>
          <a:bodyPr/>
          <a:lstStyle/>
          <a:p>
            <a:fld id="{52D28221-3646-4614-865B-857927171C46}" type="slidenum">
              <a:rPr lang="en-GB" sz="800" smtClean="0"/>
              <a:t>1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01255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15F76-D74C-F3CA-40E9-69386CC3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86D634-C7BA-C0D4-76ED-45D0FD38CDAA}"/>
              </a:ext>
            </a:extLst>
          </p:cNvPr>
          <p:cNvSpPr txBox="1"/>
          <p:nvPr/>
        </p:nvSpPr>
        <p:spPr>
          <a:xfrm>
            <a:off x="410400" y="273600"/>
            <a:ext cx="11340000" cy="684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2200" b="1" dirty="0">
                <a:solidFill>
                  <a:srgbClr val="1F2A44"/>
                </a:solidFill>
                <a:latin typeface="+mj-lt"/>
              </a:rPr>
              <a:t>Severe harm is concentrated in a small number of road-user, authority and road-context segments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E7CAE-80DB-0C32-DB19-5D2BCB5218F6}"/>
              </a:ext>
            </a:extLst>
          </p:cNvPr>
          <p:cNvSpPr txBox="1"/>
          <p:nvPr/>
        </p:nvSpPr>
        <p:spPr>
          <a:xfrm>
            <a:off x="410400" y="954000"/>
            <a:ext cx="10972800" cy="270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50" dirty="0">
                <a:solidFill>
                  <a:srgbClr val="4B5563"/>
                </a:solidFill>
              </a:rPr>
              <a:t>Volume, rate and environment views point consistently to concentrated rather than diffuse risk.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EB5E98-0197-698F-1F40-813AD3EFA806}"/>
              </a:ext>
            </a:extLst>
          </p:cNvPr>
          <p:cNvCxnSpPr/>
          <p:nvPr/>
        </p:nvCxnSpPr>
        <p:spPr>
          <a:xfrm>
            <a:off x="410400" y="1242000"/>
            <a:ext cx="113400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6DA07D8-F2D7-FF85-9F7E-B93C4274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98000"/>
            <a:ext cx="9601200" cy="180000"/>
          </a:xfrm>
        </p:spPr>
        <p:txBody>
          <a:bodyPr/>
          <a:lstStyle/>
          <a:p>
            <a:r>
              <a:rPr lang="en-US" sz="750" dirty="0"/>
              <a:t>Source: </a:t>
            </a:r>
            <a:r>
              <a:rPr lang="en-US" sz="750" dirty="0" err="1"/>
              <a:t>DfT</a:t>
            </a:r>
            <a:r>
              <a:rPr lang="en-US" sz="750" dirty="0"/>
              <a:t> Road Safety Open Data; ONS population estimates; analysis in SQL Server, </a:t>
            </a:r>
            <a:r>
              <a:rPr lang="en-US" sz="750" dirty="0" err="1"/>
              <a:t>PowerBI</a:t>
            </a:r>
            <a:r>
              <a:rPr lang="en-US" sz="750" dirty="0"/>
              <a:t> and Excel.</a:t>
            </a:r>
            <a:endParaRPr lang="en-GB" sz="75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F97FACF-4840-81A5-C1F4-73D70BF6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200" y="6480000"/>
            <a:ext cx="273600" cy="180000"/>
          </a:xfrm>
        </p:spPr>
        <p:txBody>
          <a:bodyPr/>
          <a:lstStyle/>
          <a:p>
            <a:fld id="{52D28221-3646-4614-865B-857927171C46}" type="slidenum">
              <a:rPr lang="en-GB" sz="800" smtClean="0"/>
              <a:t>2</a:t>
            </a:fld>
            <a:endParaRPr lang="en-GB" sz="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7A5E8-D32D-7B4A-CEE5-CF40B24FAA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00" y="1476000"/>
            <a:ext cx="3657600" cy="24228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2FE9CD-F03C-7874-0C72-F32390B62D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600" y="1476000"/>
            <a:ext cx="3657600" cy="24228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D1ECFE-0DFA-E4BE-71F8-417C35D50D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800" y="1476000"/>
            <a:ext cx="3657600" cy="24228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E1E29AC-56B6-0F6A-8962-D0159F3E6751}"/>
              </a:ext>
            </a:extLst>
          </p:cNvPr>
          <p:cNvSpPr txBox="1"/>
          <p:nvPr/>
        </p:nvSpPr>
        <p:spPr>
          <a:xfrm>
            <a:off x="410400" y="4050000"/>
            <a:ext cx="3657600" cy="792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950" dirty="0">
                <a:solidFill>
                  <a:srgbClr val="4B5563"/>
                </a:solidFill>
              </a:rPr>
              <a:t>Road-user mix shows that severe harm is not evenly distributed and supports targeted rather than generic intervention.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6FEBD-C753-B327-3274-2651318DDF8E}"/>
              </a:ext>
            </a:extLst>
          </p:cNvPr>
          <p:cNvSpPr txBox="1"/>
          <p:nvPr/>
        </p:nvSpPr>
        <p:spPr>
          <a:xfrm>
            <a:off x="4269600" y="4050000"/>
            <a:ext cx="3657600" cy="792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950" dirty="0">
                <a:solidFill>
                  <a:srgbClr val="4B5563"/>
                </a:solidFill>
              </a:rPr>
              <a:t>Population-adjusted rates change which authorities appear highest-burden and should influence pilot selection.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ED0657-B4DF-B26D-19CE-FF314EDD128D}"/>
              </a:ext>
            </a:extLst>
          </p:cNvPr>
          <p:cNvSpPr txBox="1"/>
          <p:nvPr/>
        </p:nvSpPr>
        <p:spPr>
          <a:xfrm>
            <a:off x="8128800" y="4049999"/>
            <a:ext cx="3657600" cy="792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950" dirty="0">
                <a:solidFill>
                  <a:srgbClr val="4B5563"/>
                </a:solidFill>
              </a:rPr>
              <a:t>Road environment matters: higher-speed settings can combine lower volume with greater severity concentration.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CCA3086-0E74-8AC9-C7BA-6832FED646BD}"/>
              </a:ext>
            </a:extLst>
          </p:cNvPr>
          <p:cNvSpPr/>
          <p:nvPr/>
        </p:nvSpPr>
        <p:spPr>
          <a:xfrm>
            <a:off x="410400" y="5328000"/>
            <a:ext cx="11376000" cy="756000"/>
          </a:xfrm>
          <a:prstGeom prst="roundRect">
            <a:avLst/>
          </a:prstGeom>
          <a:solidFill>
            <a:srgbClr val="EEF5F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rgbClr val="1F2A44"/>
                </a:solidFill>
              </a:rPr>
              <a:t>Overall takeaway: the problem is concentrated across a limited number of people, places and environments, which supports focused intervention rather than blanket, broad-based activity.</a:t>
            </a:r>
          </a:p>
        </p:txBody>
      </p:sp>
    </p:spTree>
    <p:extLst>
      <p:ext uri="{BB962C8B-B14F-4D97-AF65-F5344CB8AC3E}">
        <p14:creationId xmlns:p14="http://schemas.microsoft.com/office/powerpoint/2010/main" val="156303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F5F1A-13F8-E770-1200-940858EB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C66E3-D768-5AF8-472F-4905B3C3F908}"/>
              </a:ext>
            </a:extLst>
          </p:cNvPr>
          <p:cNvSpPr txBox="1"/>
          <p:nvPr/>
        </p:nvSpPr>
        <p:spPr>
          <a:xfrm>
            <a:off x="410400" y="273600"/>
            <a:ext cx="11340000" cy="4112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2200" b="1" dirty="0">
                <a:solidFill>
                  <a:srgbClr val="1F2A44"/>
                </a:solidFill>
                <a:latin typeface="+mj-lt"/>
              </a:rPr>
              <a:t>Different risk lenses point to three concrete intervention priorities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754D5-03EB-6074-1F96-9A2173A57D8C}"/>
              </a:ext>
            </a:extLst>
          </p:cNvPr>
          <p:cNvSpPr txBox="1"/>
          <p:nvPr/>
        </p:nvSpPr>
        <p:spPr>
          <a:xfrm>
            <a:off x="410400" y="810000"/>
            <a:ext cx="10972800" cy="2342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50" dirty="0">
                <a:solidFill>
                  <a:srgbClr val="4B5563"/>
                </a:solidFill>
              </a:rPr>
              <a:t>The objective is to move from analysis to targeted action.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FB6682-F561-57B5-4086-C9EF30A74705}"/>
              </a:ext>
            </a:extLst>
          </p:cNvPr>
          <p:cNvCxnSpPr/>
          <p:nvPr/>
        </p:nvCxnSpPr>
        <p:spPr>
          <a:xfrm>
            <a:off x="410400" y="1134000"/>
            <a:ext cx="113400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754334F-5E20-26DB-D1C4-9F65C859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98000"/>
            <a:ext cx="9601200" cy="180000"/>
          </a:xfrm>
        </p:spPr>
        <p:txBody>
          <a:bodyPr/>
          <a:lstStyle/>
          <a:p>
            <a:r>
              <a:rPr lang="en-US" sz="750" dirty="0"/>
              <a:t>Source: </a:t>
            </a:r>
            <a:r>
              <a:rPr lang="en-US" sz="750" dirty="0" err="1"/>
              <a:t>DfT</a:t>
            </a:r>
            <a:r>
              <a:rPr lang="en-US" sz="750" dirty="0"/>
              <a:t> Road Safety Open Data; ONS population estimates; analysis in SQL Server, </a:t>
            </a:r>
            <a:r>
              <a:rPr lang="en-US" sz="750" dirty="0" err="1"/>
              <a:t>PowerBI</a:t>
            </a:r>
            <a:r>
              <a:rPr lang="en-US" sz="750" dirty="0"/>
              <a:t> and Excel.</a:t>
            </a:r>
            <a:endParaRPr lang="en-GB" sz="75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694EEB2-0330-06A2-A142-D09680EA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200" y="6480000"/>
            <a:ext cx="273600" cy="180000"/>
          </a:xfrm>
        </p:spPr>
        <p:txBody>
          <a:bodyPr/>
          <a:lstStyle/>
          <a:p>
            <a:fld id="{52D28221-3646-4614-865B-857927171C46}" type="slidenum">
              <a:rPr lang="en-GB" sz="800" smtClean="0"/>
              <a:t>3</a:t>
            </a:fld>
            <a:endParaRPr lang="en-GB" sz="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A80CC5-087D-3CCE-56EC-2F7574E4E8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00" y="1476000"/>
            <a:ext cx="6120000" cy="41220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1D9C3-872D-9050-CB9A-54395DF39067}"/>
              </a:ext>
            </a:extLst>
          </p:cNvPr>
          <p:cNvSpPr txBox="1"/>
          <p:nvPr/>
        </p:nvSpPr>
        <p:spPr>
          <a:xfrm>
            <a:off x="410400" y="1303200"/>
            <a:ext cx="2286000" cy="198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900" b="1" dirty="0">
                <a:solidFill>
                  <a:srgbClr val="2F5F98"/>
                </a:solidFill>
              </a:rPr>
              <a:t>PRIORITY MATRIX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2E1777-0B01-4E1C-D680-37045B657778}"/>
              </a:ext>
            </a:extLst>
          </p:cNvPr>
          <p:cNvSpPr/>
          <p:nvPr/>
        </p:nvSpPr>
        <p:spPr>
          <a:xfrm>
            <a:off x="6817360" y="1476000"/>
            <a:ext cx="4933040" cy="115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100" b="1" dirty="0">
                <a:solidFill>
                  <a:srgbClr val="1F2A44"/>
                </a:solidFill>
              </a:rPr>
              <a:t>Priority 1 </a:t>
            </a:r>
            <a:r>
              <a:rPr lang="en-GB" sz="1100" b="1" dirty="0">
                <a:solidFill>
                  <a:srgbClr val="1F2A44"/>
                </a:solidFill>
                <a:sym typeface="Symbol" panose="05050102010706020507" pitchFamily="18" charset="2"/>
              </a:rPr>
              <a:t> Urban pedestrian hotspots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950" dirty="0">
                <a:solidFill>
                  <a:srgbClr val="4B5563"/>
                </a:solidFill>
              </a:rPr>
              <a:t>Why now: High KSI volume and strong intervention relevance in dense environments.</a:t>
            </a:r>
            <a:br>
              <a:rPr lang="en-GB" sz="950" dirty="0">
                <a:solidFill>
                  <a:srgbClr val="4B5563"/>
                </a:solidFill>
              </a:rPr>
            </a:br>
            <a:r>
              <a:rPr lang="en-GB" sz="950" dirty="0">
                <a:solidFill>
                  <a:srgbClr val="4B5563"/>
                </a:solidFill>
              </a:rPr>
              <a:t>Actions: Crossings, junction redesign, traffic calming, visibility upgrades.</a:t>
            </a:r>
            <a:br>
              <a:rPr lang="en-GB" sz="950" dirty="0">
                <a:solidFill>
                  <a:srgbClr val="4B5563"/>
                </a:solidFill>
              </a:rPr>
            </a:br>
            <a:r>
              <a:rPr lang="en-GB" sz="950" dirty="0">
                <a:solidFill>
                  <a:srgbClr val="4B5563"/>
                </a:solidFill>
              </a:rPr>
              <a:t>KPI: Pedestrian KSI.</a:t>
            </a:r>
            <a:endParaRPr lang="en-GB" sz="95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7ACA65-672C-328D-4BA5-4F9881FE6B0B}"/>
              </a:ext>
            </a:extLst>
          </p:cNvPr>
          <p:cNvSpPr/>
          <p:nvPr/>
        </p:nvSpPr>
        <p:spPr>
          <a:xfrm>
            <a:off x="6817360" y="2862000"/>
            <a:ext cx="4933040" cy="115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100" b="1" dirty="0">
                <a:solidFill>
                  <a:srgbClr val="1F2A44"/>
                </a:solidFill>
              </a:rPr>
              <a:t>Priority 2 </a:t>
            </a:r>
            <a:r>
              <a:rPr lang="en-GB" sz="1100" b="1" dirty="0">
                <a:solidFill>
                  <a:srgbClr val="1F2A44"/>
                </a:solidFill>
                <a:sym typeface="Symbol" panose="05050102010706020507" pitchFamily="18" charset="2"/>
              </a:rPr>
              <a:t> Higher-speed severity corridors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950" dirty="0">
                <a:solidFill>
                  <a:srgbClr val="4B5563"/>
                </a:solidFill>
              </a:rPr>
              <a:t>Why now: Lower-volume settings may still carry high severity and should not be deprioritised.</a:t>
            </a:r>
            <a:br>
              <a:rPr lang="en-GB" sz="950" dirty="0">
                <a:solidFill>
                  <a:srgbClr val="4B5563"/>
                </a:solidFill>
              </a:rPr>
            </a:br>
            <a:r>
              <a:rPr lang="en-GB" sz="950" dirty="0">
                <a:solidFill>
                  <a:srgbClr val="4B5563"/>
                </a:solidFill>
              </a:rPr>
              <a:t>Actions: Route reviews, speed management, signage, targeted enforcement.</a:t>
            </a:r>
            <a:br>
              <a:rPr lang="en-GB" sz="950" dirty="0">
                <a:solidFill>
                  <a:srgbClr val="4B5563"/>
                </a:solidFill>
              </a:rPr>
            </a:br>
            <a:r>
              <a:rPr lang="en-GB" sz="950" dirty="0">
                <a:solidFill>
                  <a:srgbClr val="4B5563"/>
                </a:solidFill>
              </a:rPr>
              <a:t>KPI: KSI on 50/60/70 mph roads.</a:t>
            </a:r>
            <a:endParaRPr lang="en-GB" sz="9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AECFF5-E8CE-A2C3-F923-FD73D4A78776}"/>
              </a:ext>
            </a:extLst>
          </p:cNvPr>
          <p:cNvSpPr/>
          <p:nvPr/>
        </p:nvSpPr>
        <p:spPr>
          <a:xfrm>
            <a:off x="6817360" y="4248000"/>
            <a:ext cx="4933040" cy="1152000"/>
          </a:xfrm>
          <a:prstGeom prst="roundRect">
            <a:avLst/>
          </a:prstGeom>
          <a:solidFill>
            <a:srgbClr val="F7F8FA"/>
          </a:solidFill>
          <a:ln>
            <a:solidFill>
              <a:srgbClr val="E5E7E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000" b="1" dirty="0">
                <a:solidFill>
                  <a:srgbClr val="1F2A44"/>
                </a:solidFill>
              </a:rPr>
              <a:t>Priority 3 </a:t>
            </a:r>
            <a:r>
              <a:rPr lang="en-GB" sz="1000" b="1" dirty="0">
                <a:solidFill>
                  <a:srgbClr val="1F2A44"/>
                </a:solidFill>
                <a:sym typeface="Symbol" panose="05050102010706020507" pitchFamily="18" charset="2"/>
              </a:rPr>
              <a:t> High-rate authorities and equity-sensitive targeting</a:t>
            </a:r>
            <a:br>
              <a:rPr lang="en-GB" sz="1100" b="1" dirty="0">
                <a:solidFill>
                  <a:srgbClr val="1F2A44"/>
                </a:solidFill>
              </a:rPr>
            </a:br>
            <a:br>
              <a:rPr lang="en-GB" sz="950" dirty="0"/>
            </a:br>
            <a:r>
              <a:rPr lang="en-GB" sz="850" dirty="0">
                <a:solidFill>
                  <a:srgbClr val="4B5563"/>
                </a:solidFill>
              </a:rPr>
              <a:t>Why now: Population-adjusted burden highlights authorities masked by absolute counts alone, while deprivation patterns can help prioritise where intervention may have the greatest equity value.</a:t>
            </a:r>
            <a:br>
              <a:rPr lang="en-GB" sz="850" dirty="0">
                <a:solidFill>
                  <a:srgbClr val="4B5563"/>
                </a:solidFill>
              </a:rPr>
            </a:br>
            <a:r>
              <a:rPr lang="en-GB" sz="850" dirty="0">
                <a:solidFill>
                  <a:srgbClr val="4B5563"/>
                </a:solidFill>
              </a:rPr>
              <a:t>Actions: Focused hotspot reviews, local pilot funding, monthly KPI governance, and equity-sensitive targeting.</a:t>
            </a:r>
            <a:br>
              <a:rPr lang="en-GB" sz="850" dirty="0">
                <a:solidFill>
                  <a:srgbClr val="4B5563"/>
                </a:solidFill>
              </a:rPr>
            </a:br>
            <a:r>
              <a:rPr lang="en-GB" sz="850" dirty="0">
                <a:solidFill>
                  <a:srgbClr val="4B5563"/>
                </a:solidFill>
              </a:rPr>
              <a:t>KPI: KSI per 100k in target authorities, KSI by IMD decile.</a:t>
            </a:r>
            <a:endParaRPr lang="en-GB" sz="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FD34A-D9E9-B537-2008-F6784CAEBB67}"/>
              </a:ext>
            </a:extLst>
          </p:cNvPr>
          <p:cNvSpPr txBox="1"/>
          <p:nvPr/>
        </p:nvSpPr>
        <p:spPr>
          <a:xfrm>
            <a:off x="6807698" y="5543999"/>
            <a:ext cx="4899501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i="1" dirty="0">
                <a:solidFill>
                  <a:srgbClr val="1F2A44"/>
                </a:solidFill>
              </a:rPr>
              <a:t>Recommendation logic: prioritise where volume, severity and actionability are strongest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39086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0346-1DF2-0C48-525A-BDB4D3EA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1B635-AA3E-058A-DAD9-052A7E31166D}"/>
              </a:ext>
            </a:extLst>
          </p:cNvPr>
          <p:cNvSpPr txBox="1"/>
          <p:nvPr/>
        </p:nvSpPr>
        <p:spPr>
          <a:xfrm>
            <a:off x="410400" y="273600"/>
            <a:ext cx="11340000" cy="4112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2200" b="1" dirty="0">
                <a:solidFill>
                  <a:srgbClr val="1F2A44"/>
                </a:solidFill>
                <a:latin typeface="+mj-lt"/>
              </a:rPr>
              <a:t>A 90-day pilot and KPI framework can convert analysis into measurable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F0607-3F3F-CE65-BED4-2440D84C6C06}"/>
              </a:ext>
            </a:extLst>
          </p:cNvPr>
          <p:cNvSpPr txBox="1"/>
          <p:nvPr/>
        </p:nvSpPr>
        <p:spPr>
          <a:xfrm>
            <a:off x="410400" y="774000"/>
            <a:ext cx="10972800" cy="396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50" dirty="0">
                <a:solidFill>
                  <a:srgbClr val="4B5563"/>
                </a:solidFill>
              </a:rPr>
              <a:t>Pilot first, validate locally, then scale what works.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B1360F-120C-36A0-3F8F-8C99C8C71856}"/>
              </a:ext>
            </a:extLst>
          </p:cNvPr>
          <p:cNvCxnSpPr/>
          <p:nvPr/>
        </p:nvCxnSpPr>
        <p:spPr>
          <a:xfrm>
            <a:off x="410400" y="1134000"/>
            <a:ext cx="113400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1603C24-ACCF-B7D0-1F01-1944FDA9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400" y="6498000"/>
            <a:ext cx="9601200" cy="180000"/>
          </a:xfrm>
        </p:spPr>
        <p:txBody>
          <a:bodyPr/>
          <a:lstStyle/>
          <a:p>
            <a:r>
              <a:rPr lang="en-US" sz="750" dirty="0"/>
              <a:t>Source: </a:t>
            </a:r>
            <a:r>
              <a:rPr lang="en-US" sz="750" dirty="0" err="1"/>
              <a:t>DfT</a:t>
            </a:r>
            <a:r>
              <a:rPr lang="en-US" sz="750" dirty="0"/>
              <a:t> Road Safety Open Data; ONS population estimates; analysis in SQL Server, </a:t>
            </a:r>
            <a:r>
              <a:rPr lang="en-US" sz="750" dirty="0" err="1"/>
              <a:t>PowerBI</a:t>
            </a:r>
            <a:r>
              <a:rPr lang="en-US" sz="750" dirty="0"/>
              <a:t> and Excel.</a:t>
            </a:r>
            <a:endParaRPr lang="en-GB" sz="75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B1951D5-8FA3-6F9A-4CE4-6DEBCF50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200" y="6480000"/>
            <a:ext cx="273600" cy="180000"/>
          </a:xfrm>
        </p:spPr>
        <p:txBody>
          <a:bodyPr/>
          <a:lstStyle/>
          <a:p>
            <a:fld id="{52D28221-3646-4614-865B-857927171C46}" type="slidenum">
              <a:rPr lang="en-GB" sz="800" smtClean="0"/>
              <a:t>4</a:t>
            </a:fld>
            <a:endParaRPr lang="en-GB" sz="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B46211-CF1D-AF68-1089-217A4E86A447}"/>
              </a:ext>
            </a:extLst>
          </p:cNvPr>
          <p:cNvSpPr/>
          <p:nvPr/>
        </p:nvSpPr>
        <p:spPr>
          <a:xfrm>
            <a:off x="410400" y="1476000"/>
            <a:ext cx="3657600" cy="1944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9A2E5-A45A-36EB-C50E-944E406449D3}"/>
              </a:ext>
            </a:extLst>
          </p:cNvPr>
          <p:cNvSpPr/>
          <p:nvPr/>
        </p:nvSpPr>
        <p:spPr>
          <a:xfrm>
            <a:off x="410400" y="1476000"/>
            <a:ext cx="3657600" cy="324000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B89779-9541-B038-8C56-FD182444EB32}"/>
              </a:ext>
            </a:extLst>
          </p:cNvPr>
          <p:cNvSpPr txBox="1"/>
          <p:nvPr/>
        </p:nvSpPr>
        <p:spPr>
          <a:xfrm>
            <a:off x="522000" y="1540800"/>
            <a:ext cx="3420000" cy="162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1" dirty="0">
                <a:solidFill>
                  <a:schemeClr val="bg1"/>
                </a:solidFill>
              </a:rPr>
              <a:t>DAYS 1-30 </a:t>
            </a:r>
            <a:r>
              <a:rPr lang="en-GB" sz="1000" b="1" dirty="0">
                <a:solidFill>
                  <a:schemeClr val="bg1"/>
                </a:solidFill>
                <a:sym typeface="Symbol" panose="05050102010706020507" pitchFamily="18" charset="2"/>
              </a:rPr>
              <a:t> VALIDATE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81A56-2265-DD7C-E83F-D1C872161523}"/>
              </a:ext>
            </a:extLst>
          </p:cNvPr>
          <p:cNvSpPr txBox="1"/>
          <p:nvPr/>
        </p:nvSpPr>
        <p:spPr>
          <a:xfrm>
            <a:off x="522000" y="1872000"/>
            <a:ext cx="3402000" cy="1368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Confirm top authorities and priority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Review hotspot locations and local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Define intervention packages and owners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0D3F96-7B6C-4112-1908-C08166DFB48B}"/>
              </a:ext>
            </a:extLst>
          </p:cNvPr>
          <p:cNvSpPr/>
          <p:nvPr/>
        </p:nvSpPr>
        <p:spPr>
          <a:xfrm>
            <a:off x="4269600" y="1476000"/>
            <a:ext cx="3657600" cy="1944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896254-CCEC-C7EB-FDC8-5574EF84AB48}"/>
              </a:ext>
            </a:extLst>
          </p:cNvPr>
          <p:cNvSpPr/>
          <p:nvPr/>
        </p:nvSpPr>
        <p:spPr>
          <a:xfrm>
            <a:off x="4269600" y="1476000"/>
            <a:ext cx="3657600" cy="324000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608F5-BDF0-1363-8F33-BF7D36D655B7}"/>
              </a:ext>
            </a:extLst>
          </p:cNvPr>
          <p:cNvSpPr txBox="1"/>
          <p:nvPr/>
        </p:nvSpPr>
        <p:spPr>
          <a:xfrm>
            <a:off x="4381200" y="1540800"/>
            <a:ext cx="3420000" cy="162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1" dirty="0">
                <a:solidFill>
                  <a:schemeClr val="bg1"/>
                </a:solidFill>
              </a:rPr>
              <a:t>DAYS 31-60 </a:t>
            </a:r>
            <a:r>
              <a:rPr lang="en-GB" sz="1000" b="1" dirty="0">
                <a:solidFill>
                  <a:schemeClr val="bg1"/>
                </a:solidFill>
                <a:sym typeface="Symbol" panose="05050102010706020507" pitchFamily="18" charset="2"/>
              </a:rPr>
              <a:t> LAUNCH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AB1F1-40FC-9A99-62A6-7FA89BE1DB4D}"/>
              </a:ext>
            </a:extLst>
          </p:cNvPr>
          <p:cNvSpPr txBox="1"/>
          <p:nvPr/>
        </p:nvSpPr>
        <p:spPr>
          <a:xfrm>
            <a:off x="4381200" y="1872000"/>
            <a:ext cx="3402000" cy="1368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Deploy pilot interventions in target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Begin weekly dashboard review rhythm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Track operational issues and data quality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90A580-4D1D-183E-1E02-7688E567B154}"/>
              </a:ext>
            </a:extLst>
          </p:cNvPr>
          <p:cNvSpPr/>
          <p:nvPr/>
        </p:nvSpPr>
        <p:spPr>
          <a:xfrm>
            <a:off x="8128800" y="1476000"/>
            <a:ext cx="3657600" cy="1944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018722-D542-7EBF-0213-CEE75EE909E0}"/>
              </a:ext>
            </a:extLst>
          </p:cNvPr>
          <p:cNvSpPr/>
          <p:nvPr/>
        </p:nvSpPr>
        <p:spPr>
          <a:xfrm>
            <a:off x="8128800" y="1476000"/>
            <a:ext cx="3657600" cy="324000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857C80-84B7-F3E9-F2DF-4A2BDF8A10AE}"/>
              </a:ext>
            </a:extLst>
          </p:cNvPr>
          <p:cNvSpPr txBox="1"/>
          <p:nvPr/>
        </p:nvSpPr>
        <p:spPr>
          <a:xfrm>
            <a:off x="8235600" y="1540800"/>
            <a:ext cx="3420000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GB" sz="1000" b="1" dirty="0">
                <a:solidFill>
                  <a:schemeClr val="bg1"/>
                </a:solidFill>
              </a:rPr>
              <a:t>DAYS 61-90 </a:t>
            </a:r>
            <a:r>
              <a:rPr lang="en-GB" sz="1000" b="1" dirty="0">
                <a:solidFill>
                  <a:schemeClr val="bg1"/>
                </a:solidFill>
                <a:sym typeface="Symbol" panose="05050102010706020507" pitchFamily="18" charset="2"/>
              </a:rPr>
              <a:t> EVALUATE</a:t>
            </a:r>
            <a:endParaRPr lang="en-GB" sz="10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CB304D-6282-818F-CCBE-2BDDB2BCA343}"/>
              </a:ext>
            </a:extLst>
          </p:cNvPr>
          <p:cNvSpPr txBox="1"/>
          <p:nvPr/>
        </p:nvSpPr>
        <p:spPr>
          <a:xfrm>
            <a:off x="8235600" y="1872000"/>
            <a:ext cx="3402000" cy="1368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Compare KPI movement versus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Refine targeting and intervention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Recommend scale-up, stop or redesign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264FDF-7A29-4BE4-EB4F-50E3CCF59370}"/>
              </a:ext>
            </a:extLst>
          </p:cNvPr>
          <p:cNvSpPr/>
          <p:nvPr/>
        </p:nvSpPr>
        <p:spPr>
          <a:xfrm>
            <a:off x="410400" y="3852000"/>
            <a:ext cx="5670000" cy="2178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B622A-2F33-2934-BAC9-011ECDEA4837}"/>
              </a:ext>
            </a:extLst>
          </p:cNvPr>
          <p:cNvSpPr txBox="1"/>
          <p:nvPr/>
        </p:nvSpPr>
        <p:spPr>
          <a:xfrm>
            <a:off x="558000" y="3960000"/>
            <a:ext cx="2160000" cy="180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en-GB" sz="1100" b="1" dirty="0">
                <a:solidFill>
                  <a:srgbClr val="1F2A44"/>
                </a:solidFill>
              </a:rPr>
              <a:t>Pilot KPI framework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2DD1A0E-11FD-2DCB-B21B-994CC2489206}"/>
              </a:ext>
            </a:extLst>
          </p:cNvPr>
          <p:cNvSpPr/>
          <p:nvPr/>
        </p:nvSpPr>
        <p:spPr>
          <a:xfrm>
            <a:off x="640800" y="4338000"/>
            <a:ext cx="2606400" cy="666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950" dirty="0">
                <a:solidFill>
                  <a:srgbClr val="1F2A44"/>
                </a:solidFill>
              </a:rPr>
              <a:t>KSI casualties in pilot segments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E9106C-E279-58A3-67B4-ABE855E50610}"/>
              </a:ext>
            </a:extLst>
          </p:cNvPr>
          <p:cNvSpPr/>
          <p:nvPr/>
        </p:nvSpPr>
        <p:spPr>
          <a:xfrm>
            <a:off x="3337200" y="4338000"/>
            <a:ext cx="2606400" cy="666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950" dirty="0">
                <a:solidFill>
                  <a:srgbClr val="1F2A44"/>
                </a:solidFill>
              </a:rPr>
              <a:t>KSI % in pilot segments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B05D505-6A16-E994-99BE-C34B5F1340D4}"/>
              </a:ext>
            </a:extLst>
          </p:cNvPr>
          <p:cNvSpPr/>
          <p:nvPr/>
        </p:nvSpPr>
        <p:spPr>
          <a:xfrm>
            <a:off x="640800" y="5130000"/>
            <a:ext cx="2606400" cy="666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950" dirty="0">
                <a:solidFill>
                  <a:srgbClr val="1F2A44"/>
                </a:solidFill>
              </a:rPr>
              <a:t>Pedestrian KSI in target corridors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2C2ABDE-B48D-35AF-CB3A-B1D2D3305621}"/>
              </a:ext>
            </a:extLst>
          </p:cNvPr>
          <p:cNvSpPr/>
          <p:nvPr/>
        </p:nvSpPr>
        <p:spPr>
          <a:xfrm>
            <a:off x="3337200" y="5130000"/>
            <a:ext cx="2606400" cy="666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950" dirty="0">
                <a:solidFill>
                  <a:srgbClr val="1F2A44"/>
                </a:solidFill>
              </a:rPr>
              <a:t>KSI per 100k in target authorities and IMD-linked burden in target authorities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0508D74-84F1-1623-8A9D-D16731F4203F}"/>
              </a:ext>
            </a:extLst>
          </p:cNvPr>
          <p:cNvSpPr/>
          <p:nvPr/>
        </p:nvSpPr>
        <p:spPr>
          <a:xfrm>
            <a:off x="6310800" y="3852000"/>
            <a:ext cx="5468400" cy="2178000"/>
          </a:xfrm>
          <a:prstGeom prst="roundRect">
            <a:avLst/>
          </a:prstGeom>
          <a:solidFill>
            <a:srgbClr val="EEF5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B27D5F-0EDD-1B8B-36FD-17E007B61736}"/>
              </a:ext>
            </a:extLst>
          </p:cNvPr>
          <p:cNvSpPr txBox="1"/>
          <p:nvPr/>
        </p:nvSpPr>
        <p:spPr>
          <a:xfrm>
            <a:off x="6462000" y="3960000"/>
            <a:ext cx="36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1F2A44"/>
                </a:solidFill>
              </a:rPr>
              <a:t>Monthly steering questions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B37C19-082E-FD23-432B-1975B2E044AD}"/>
              </a:ext>
            </a:extLst>
          </p:cNvPr>
          <p:cNvSpPr txBox="1"/>
          <p:nvPr/>
        </p:nvSpPr>
        <p:spPr>
          <a:xfrm>
            <a:off x="6462000" y="4266000"/>
            <a:ext cx="5004000" cy="1548000"/>
          </a:xfrm>
          <a:prstGeom prst="rect">
            <a:avLst/>
          </a:prstGeom>
          <a:noFill/>
        </p:spPr>
        <p:txBody>
          <a:bodyPr wrap="square" lIns="54000" tIns="54000" rIns="54000" bIns="5400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Are the same segments still highest priority?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Are pilot authorities high on both rate and count?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Which interventions show the clearest early signal?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50" dirty="0">
                <a:solidFill>
                  <a:srgbClr val="4B5563"/>
                </a:solidFill>
              </a:rPr>
              <a:t>What should be scaled, stopped or redesigned?</a:t>
            </a:r>
          </a:p>
        </p:txBody>
      </p:sp>
    </p:spTree>
    <p:extLst>
      <p:ext uri="{BB962C8B-B14F-4D97-AF65-F5344CB8AC3E}">
        <p14:creationId xmlns:p14="http://schemas.microsoft.com/office/powerpoint/2010/main" val="1002328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Dennis Oduk</cp:lastModifiedBy>
  <cp:revision>12</cp:revision>
  <dcterms:created xsi:type="dcterms:W3CDTF">2026-05-01T16:59:32Z</dcterms:created>
  <dcterms:modified xsi:type="dcterms:W3CDTF">2026-05-07T10:26:58Z</dcterms:modified>
</cp:coreProperties>
</file>